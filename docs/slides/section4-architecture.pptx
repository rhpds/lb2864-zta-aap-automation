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/>
          <a:lstStyle/>
          <a:p>
            <a:pPr algn="ctr"/>
            <a:r>
              <a:rPr sz="1400" b="1">
                <a:solidFill>
                  <a:srgbClr val="CC0000"/>
                </a:solidFill>
              </a:rPr>
              <a:t>Section 4</a:t>
            </a:r>
            <a:r>
              <a:rPr sz="2200" b="1">
                <a:solidFill>
                  <a:srgbClr val="FFFFFF"/>
                </a:solidFill>
              </a:rPr>
              <a:t>  SPIFFE-Verified Network VLAN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109728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0A0A0"/>
                </a:solidFill>
              </a:rPr>
              <a:t>Defence in Depth: Two independent policy rings verify the human AND the workload before any network change proceeds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25880"/>
            <a:ext cx="1828800" cy="100584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66CC"/>
                </a:solidFill>
              </a:rPr>
              <a:t>AAP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357120"/>
            <a:ext cx="182880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2121"/>
                </a:solidFill>
              </a:rPr>
              <a:t>netadmin launches
"Configure VLAN" template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03120" y="1828800.0"/>
            <a:ext cx="320040" cy="0.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68880" y="1325880"/>
            <a:ext cx="2011680" cy="10058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C7A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EC7A08"/>
                </a:solidFill>
              </a:rPr>
              <a:t>OUTER RING</a:t>
            </a:r>
          </a:p>
          <a:p>
            <a:pPr algn="ctr"/>
            <a:r>
              <a:rPr sz="1100" b="1">
                <a:solidFill>
                  <a:srgbClr val="212121"/>
                </a:solidFill>
              </a:rPr>
              <a:t>AAP Gateway Policy</a:t>
            </a:r>
          </a:p>
          <a:p>
            <a:pPr algn="ctr">
              <a:spcBef>
                <a:spcPts val="400"/>
              </a:spcBef>
            </a:pPr>
            <a:r>
              <a:rPr sz="800">
                <a:solidFill>
                  <a:srgbClr val="A0A0A0"/>
                </a:solidFill>
              </a:rPr>
              <a:t>aap.gateway OPA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357120"/>
            <a:ext cx="20116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2121"/>
                </a:solidFill>
              </a:rPr>
              <a:t>Is user in Infrastructure
AAP team?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80560" y="1828800.0"/>
            <a:ext cx="320040" cy="0.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846320" y="1325880"/>
            <a:ext cx="2011680" cy="1005840"/>
          </a:xfrm>
          <a:prstGeom prst="roundRect">
            <a:avLst/>
          </a:prstGeom>
          <a:solidFill>
            <a:srgbClr val="E8F8E8"/>
          </a:solidFill>
          <a:ln w="19050">
            <a:solidFill>
              <a:srgbClr val="3E8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1">
                <a:solidFill>
                  <a:srgbClr val="3E8227"/>
                </a:solidFill>
              </a:rPr>
              <a:t>SPIFFE / SPIRE</a:t>
            </a:r>
          </a:p>
          <a:p>
            <a:pPr algn="ctr"/>
            <a:r>
              <a:rPr sz="1000" b="1">
                <a:solidFill>
                  <a:srgbClr val="212121"/>
                </a:solidFill>
              </a:rPr>
              <a:t>Workload Identity</a:t>
            </a:r>
          </a:p>
          <a:p>
            <a:pPr algn="ctr">
              <a:spcBef>
                <a:spcPts val="400"/>
              </a:spcBef>
            </a:pPr>
            <a:r>
              <a:rPr sz="800">
                <a:solidFill>
                  <a:srgbClr val="A0A0A0"/>
                </a:solidFill>
              </a:rPr>
              <a:t>X.509 SVID (short-lived)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357120"/>
            <a:ext cx="20116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2121"/>
                </a:solidFill>
              </a:rPr>
              <a:t>Fetch SVID from SPIRE Agent
on AAP execution node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0" y="1828800.0"/>
            <a:ext cx="320040" cy="0.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23760" y="1325880"/>
            <a:ext cx="2011680" cy="1005840"/>
          </a:xfrm>
          <a:prstGeom prst="roundRect">
            <a:avLst/>
          </a:prstGeom>
          <a:solidFill>
            <a:srgbClr val="FFE8E8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CC0000"/>
                </a:solidFill>
              </a:rPr>
              <a:t>INNER RING</a:t>
            </a:r>
          </a:p>
          <a:p>
            <a:pPr algn="ctr"/>
            <a:r>
              <a:rPr sz="1100" b="1">
                <a:solidFill>
                  <a:srgbClr val="212121"/>
                </a:solidFill>
              </a:rPr>
              <a:t>OPA Network Policy</a:t>
            </a:r>
          </a:p>
          <a:p>
            <a:pPr algn="ctr">
              <a:spcBef>
                <a:spcPts val="400"/>
              </a:spcBef>
            </a:pPr>
            <a:r>
              <a:rPr sz="800">
                <a:solidFill>
                  <a:srgbClr val="A0A0A0"/>
                </a:solidFill>
              </a:rPr>
              <a:t>zta.network Rego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357120"/>
            <a:ext cx="2011680" cy="5029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2121"/>
                </a:solidFill>
              </a:rPr>
              <a:t>✓ Trusted SPIFFE ID?
✓ User in network-admins?
✓ VLAN 100-999?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35440" y="1828800.0"/>
            <a:ext cx="320040" cy="0.0"/>
          </a:xfrm>
          <a:prstGeom prst="line">
            <a:avLst/>
          </a:prstGeom>
          <a:ln w="2540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01200" y="1325880"/>
            <a:ext cx="2377440" cy="411480"/>
          </a:xfrm>
          <a:prstGeom prst="roundRect">
            <a:avLst/>
          </a:prstGeom>
          <a:solidFill>
            <a:srgbClr val="E8F8E8"/>
          </a:solidFill>
          <a:ln w="19050">
            <a:solidFill>
              <a:srgbClr val="2D6B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6B1E"/>
                </a:solidFill>
              </a:rPr>
              <a:t>Arista cEOS Switches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874520"/>
            <a:ext cx="2377440" cy="41148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66CC"/>
                </a:solidFill>
              </a:rPr>
              <a:t>NetBox CMDB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357120"/>
            <a:ext cx="23774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12121"/>
                </a:solidFill>
              </a:rPr>
              <a:t>VLAN created + audit trail
with user + workload identity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3017520"/>
            <a:ext cx="1645920" cy="411480"/>
          </a:xfrm>
          <a:prstGeom prst="roundRect">
            <a:avLst/>
          </a:prstGeom>
          <a:solidFill>
            <a:srgbClr val="FFDDDD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C0000"/>
                </a:solidFill>
              </a:rPr>
              <a:t>✗ DENIED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456432"/>
            <a:ext cx="21945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C0000"/>
                </a:solidFill>
              </a:rPr>
              <a:t>neteng blocked — wrong team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74720.0" y="2331720"/>
            <a:ext cx="0.0" cy="685800"/>
          </a:xfrm>
          <a:prstGeom prst="line">
            <a:avLst/>
          </a:prstGeom>
          <a:ln w="1905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06640" y="3017520"/>
            <a:ext cx="1645920" cy="411480"/>
          </a:xfrm>
          <a:prstGeom prst="roundRect">
            <a:avLst/>
          </a:prstGeom>
          <a:solidFill>
            <a:srgbClr val="FFDDDD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C0000"/>
                </a:solidFill>
              </a:rPr>
              <a:t>✗ DENIED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456432"/>
            <a:ext cx="219456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C0000"/>
                </a:solidFill>
              </a:rPr>
              <a:t>Rogue SPIFFE ID / bad VLAN / wrong group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29600.0" y="2331720"/>
            <a:ext cx="0.0" cy="685800"/>
          </a:xfrm>
          <a:prstGeom prst="line">
            <a:avLst/>
          </a:prstGeom>
          <a:ln w="19050">
            <a:solidFill>
              <a:srgbClr val="CC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74320" y="3749040"/>
            <a:ext cx="365760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2121"/>
                </a:solidFill>
              </a:rPr>
              <a:t>Lab Infrastructure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023360"/>
            <a:ext cx="2103120" cy="640080"/>
          </a:xfrm>
          <a:prstGeom prst="roundRect">
            <a:avLst/>
          </a:prstGeom>
          <a:solidFill>
            <a:srgbClr val="E8F8E8"/>
          </a:solidFill>
          <a:ln w="19050">
            <a:solidFill>
              <a:srgbClr val="3E8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3E8227"/>
                </a:solidFill>
              </a:rPr>
              <a:t>SPIRE Server</a:t>
            </a:r>
          </a:p>
          <a:p>
            <a:pPr algn="ctr">
              <a:spcBef>
                <a:spcPts val="0"/>
              </a:spcBef>
            </a:pPr>
            <a:r>
              <a:rPr sz="700">
                <a:solidFill>
                  <a:srgbClr val="A0A0A0"/>
                </a:solidFill>
              </a:rPr>
              <a:t>central.zta.lab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212121"/>
                </a:solidFill>
              </a:rPr>
              <a:t>Trust domain CA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212121"/>
                </a:solidFill>
              </a:rPr>
              <a:t>Signs all SVIDs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4023360"/>
            <a:ext cx="2103120" cy="640080"/>
          </a:xfrm>
          <a:prstGeom prst="roundRect">
            <a:avLst/>
          </a:prstGeom>
          <a:solidFill>
            <a:srgbClr val="E8F8E8"/>
          </a:solidFill>
          <a:ln w="19050">
            <a:solidFill>
              <a:srgbClr val="3E8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3E8227"/>
                </a:solidFill>
              </a:rPr>
              <a:t>SPIRE Agent</a:t>
            </a:r>
          </a:p>
          <a:p>
            <a:pPr algn="ctr">
              <a:spcBef>
                <a:spcPts val="0"/>
              </a:spcBef>
            </a:pPr>
            <a:r>
              <a:rPr sz="700">
                <a:solidFill>
                  <a:srgbClr val="A0A0A0"/>
                </a:solidFill>
              </a:rPr>
              <a:t>control.zta.lab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212121"/>
                </a:solidFill>
              </a:rPr>
              <a:t>Serves SVIDs to AAP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212121"/>
                </a:solidFill>
              </a:rPr>
              <a:t>via Unix socket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4023360"/>
            <a:ext cx="2103120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C7A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EC7A08"/>
                </a:solidFill>
              </a:rPr>
              <a:t>OPA</a:t>
            </a:r>
          </a:p>
          <a:p>
            <a:pPr algn="ctr">
              <a:spcBef>
                <a:spcPts val="0"/>
              </a:spcBef>
            </a:pPr>
            <a:r>
              <a:rPr sz="700">
                <a:solidFill>
                  <a:srgbClr val="A0A0A0"/>
                </a:solidFill>
              </a:rPr>
              <a:t>central.zta.lab:8181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212121"/>
                </a:solidFill>
              </a:rPr>
              <a:t>aap.gateway (outer)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212121"/>
                </a:solidFill>
              </a:rPr>
              <a:t>zta.network (inner)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4023360"/>
            <a:ext cx="2103120" cy="64008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0066CC"/>
                </a:solidFill>
              </a:rPr>
              <a:t>IdM (FreeIPA)</a:t>
            </a:r>
          </a:p>
          <a:p>
            <a:pPr algn="ctr">
              <a:spcBef>
                <a:spcPts val="0"/>
              </a:spcBef>
            </a:pPr>
            <a:r>
              <a:rPr sz="700">
                <a:solidFill>
                  <a:srgbClr val="A0A0A0"/>
                </a:solidFill>
              </a:rPr>
              <a:t>central.zta.lab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212121"/>
                </a:solidFill>
              </a:rPr>
              <a:t>User identity + groups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212121"/>
                </a:solidFill>
              </a:rPr>
              <a:t>network-admins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4023360"/>
            <a:ext cx="2103120" cy="640080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25400" bIns="25400"/>
          <a:lstStyle/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0066CC"/>
                </a:solidFill>
              </a:rPr>
              <a:t>NetBox</a:t>
            </a:r>
          </a:p>
          <a:p>
            <a:pPr algn="ctr">
              <a:spcBef>
                <a:spcPts val="0"/>
              </a:spcBef>
            </a:pPr>
            <a:r>
              <a:rPr sz="700">
                <a:solidFill>
                  <a:srgbClr val="A0A0A0"/>
                </a:solidFill>
              </a:rPr>
              <a:t>netbox.zta.lab:8880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212121"/>
                </a:solidFill>
              </a:rPr>
              <a:t>CMDB audit trail</a:t>
            </a:r>
          </a:p>
          <a:p>
            <a:pPr algn="ctr">
              <a:spcBef>
                <a:spcPts val="100"/>
              </a:spcBef>
            </a:pPr>
            <a:r>
              <a:rPr sz="700">
                <a:solidFill>
                  <a:srgbClr val="212121"/>
                </a:solidFill>
              </a:rPr>
              <a:t>VLAN + identity records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4937760"/>
            <a:ext cx="11612880" cy="5943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25400" bIns="25400"/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212121"/>
                </a:solidFill>
              </a:rPr>
              <a:t>Key Takeaways</a:t>
            </a:r>
          </a:p>
          <a:p>
            <a:pPr algn="l">
              <a:spcBef>
                <a:spcPts val="100"/>
              </a:spcBef>
            </a:pPr>
            <a:r>
              <a:rPr sz="800">
                <a:solidFill>
                  <a:srgbClr val="212121"/>
                </a:solidFill>
              </a:rPr>
              <a:t>▸ Outer ring (AAP gateway) checks WHO can press the button  •  Inner ring (in-playbook OPA) checks WHAT the workload is and WHAT it requests</a:t>
            </a:r>
          </a:p>
          <a:p>
            <a:pPr algn="l">
              <a:spcBef>
                <a:spcPts val="100"/>
              </a:spcBef>
            </a:pPr>
            <a:r>
              <a:rPr sz="800">
                <a:solidFill>
                  <a:srgbClr val="212121"/>
                </a:solidFill>
              </a:rPr>
              <a:t>▸ SPIFFE SVIDs are short-lived and auto-rotated — stolen certificates expire in minutes, not months  •  Authentication (SPIRE) ≠ Authorisation (OPA)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0A0A0"/>
                </a:solidFill>
              </a:rPr>
              <a:t>Zero Trust Architecture Workshop  •  Ansible Automation Platform 2.6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6492240"/>
            <a:ext cx="3657600" cy="2286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0A0A0"/>
                </a:solidFill>
              </a:rPr>
              <a:t>Section 4: SPIFFE + OPA + Arista + NetBox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